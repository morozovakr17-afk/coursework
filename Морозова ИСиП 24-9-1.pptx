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1EA"/>
    <a:srgbClr val="F4D9F0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9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669925"/>
            <a:ext cx="9144000" cy="72514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«Проектирование ИС «</a:t>
            </a:r>
            <a:r>
              <a:rPr lang="ru-RU" altLang="en-US" sz="2400" dirty="0"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Спорткомплекс»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03862" y="4407288"/>
            <a:ext cx="4850296" cy="1651759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Морозова К.В., </a:t>
            </a:r>
            <a:endParaRPr lang="ru-RU" sz="1800" kern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2 курса очной формы обучения, </a:t>
            </a:r>
            <a:endParaRPr lang="ru-RU" sz="1800" kern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</a:t>
            </a:r>
            <a:r>
              <a:rPr lang="ru-RU" sz="1800" kern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ИСиП</a:t>
            </a:r>
            <a:r>
              <a:rPr lang="ru-RU" sz="1800" kern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24-9-1</a:t>
            </a:r>
            <a:endParaRPr lang="ru-RU" sz="1800" kern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  <a:endParaRPr lang="ru-RU" sz="1800" kern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53143" y="303793"/>
            <a:ext cx="109873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 ТЮМЕНСКОЙ ОБЛАСТИ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096801" y="6288156"/>
            <a:ext cx="1907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2026 г.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1325563"/>
          </a:xfrm>
        </p:spPr>
        <p:txBody>
          <a:bodyPr>
            <a:normAutofit/>
          </a:bodyPr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ОПИСАНИЕ ПРЕДМЕТНОЙ ОБЛАСТИ</a:t>
            </a:r>
            <a:endParaRPr lang="ru-RU" alt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покупки абонементов с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порткомплекса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веб-приложение, предназначенное для оформления и оплаты абонементов через сайт. Основными функциями системы являются регистрация клиентов, выбор абонементов, оформление заказов и выполнение онлайн-оплаты.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также обеспечивает хранение информации о клиентах, заказах и платежах, контроль статуса заказов и автоматизацию процесса покупки абонементов. Использование системы позволяет упростить взаимодействие клиентов со спортивным комплексом и повысить удобство оформления услуг.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1325563"/>
          </a:xfrm>
        </p:spPr>
        <p:txBody>
          <a:bodyPr>
            <a:normAutofit/>
          </a:bodyPr>
          <a:p>
            <a:pPr algn="ctr"/>
            <a:r>
              <a:rPr lang="ru-RU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Неудобство оформления абонементов вручную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Ошибки при хранении данных о клиентах и заказах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Отсутствие автоматического контроля оплаты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Сложность обработки информации о клиентах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Неэффективное взаимодействие клиента с системой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1325563"/>
          </a:xfrm>
        </p:spPr>
        <p:txBody>
          <a:bodyPr/>
          <a:p>
            <a:pPr algn="ctr"/>
            <a:r>
              <a:rPr lang="ru-RU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RU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Проектирование информационной системы 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спорткомплекса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автоматизации процесса покупки абонементов.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предметную область спортивного комплекса;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информационную систему;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структуру базы данных;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ru-RU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интерфейс веб-сайта.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1325563"/>
          </a:xfrm>
        </p:spPr>
        <p:txBody>
          <a:bodyPr>
            <a:normAutofit/>
          </a:bodyPr>
          <a:p>
            <a:pPr algn="ctr"/>
            <a:r>
              <a:rPr lang="ru-RU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 ПРЕДМЕТ ИССЛЕДОВАНИЯ</a:t>
            </a:r>
            <a:endParaRPr lang="ru-RU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исследования является: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спорткомплекс, предоставляющий услуги по продаже и оформлению абонементов клиентам.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исследования является: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процесс покупки абонементов с использованием информационной системы.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1170305"/>
          </a:xfrm>
        </p:spPr>
        <p:txBody>
          <a:bodyPr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КОНТЕКСТНАЯ ДИАГРАММА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IDEF0</a:t>
            </a:r>
            <a:r>
              <a:rPr lang="ru-RU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«Продажа абонемента»</a:t>
            </a:r>
            <a:endParaRPr lang="ru-RU" alt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Замещающее содержимое 5" descr="-Страница-9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50390" y="1631950"/>
            <a:ext cx="8491220" cy="48780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819150"/>
          </a:xfrm>
        </p:spPr>
        <p:txBody>
          <a:bodyPr>
            <a:normAutofit/>
          </a:bodyPr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ДЕКОМПОЗИЦИЯ ДИАГРАММЫ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IDEF0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1ур.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ru-RU" altLang="en-US" sz="3600"/>
          </a:p>
        </p:txBody>
      </p:sp>
      <p:pic>
        <p:nvPicPr>
          <p:cNvPr id="4" name="Замещающее содержимое 3" descr="Страница-9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11985" y="1319530"/>
            <a:ext cx="8367395" cy="5190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1325563"/>
          </a:xfrm>
        </p:spPr>
        <p:txBody>
          <a:bodyPr>
            <a:normAutofit/>
          </a:bodyPr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КОНТЕКСТНАЯ ДИАГРАММА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DFD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«Покупка абонемента»</a:t>
            </a:r>
            <a:endParaRPr lang="ru-RU" altLang="en-US" sz="3600" b="0"/>
          </a:p>
        </p:txBody>
      </p:sp>
      <p:pic>
        <p:nvPicPr>
          <p:cNvPr id="4" name="Замещающее содержимое 3" descr="ВСЕ ДИАГРАММЫ-Страница-9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34235" y="2479675"/>
            <a:ext cx="7923530" cy="3270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5265" y="402590"/>
            <a:ext cx="9221470" cy="715645"/>
          </a:xfrm>
        </p:spPr>
        <p:txBody>
          <a:bodyPr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ДЕКОМПОЗИЦИЯ ДИАГРАММЫ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DFD</a:t>
            </a:r>
            <a:endParaRPr lang="ru-RU" altLang="en-US" sz="3600"/>
          </a:p>
        </p:txBody>
      </p:sp>
      <p:pic>
        <p:nvPicPr>
          <p:cNvPr id="4" name="Замещающее содержимое 3" descr="ВСЕ ДИАГРАММЫ-Страница-9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84985" y="1336675"/>
            <a:ext cx="8622030" cy="52851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2365" y="258445"/>
            <a:ext cx="7367270" cy="736600"/>
          </a:xfrm>
        </p:spPr>
        <p:txBody>
          <a:bodyPr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ТЕХНИЧЕСКОЕ ЗАДАНИЕ</a:t>
            </a:r>
            <a:endParaRPr lang="ru-RU" altLang="en-US" sz="36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06070" y="1387475"/>
            <a:ext cx="6196330" cy="4351655"/>
          </a:xfrm>
        </p:spPr>
        <p:txBody>
          <a:bodyPr>
            <a:normAutofit fontScale="70000"/>
          </a:bodyPr>
          <a:p>
            <a:r>
              <a:rPr lang="en-US" altLang="en-US" sz="3145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создание информационной системы для </a:t>
            </a:r>
            <a:r>
              <a:rPr lang="ru-RU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спорткомплекса</a:t>
            </a:r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позволит удобно работать с данными о клиентах, услугах, абонементах и посещениях.</a:t>
            </a:r>
            <a:endParaRPr lang="en-US" altLang="en-US" sz="314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145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разработки:</a:t>
            </a:r>
            <a:endParaRPr lang="en-US" altLang="ru-RU" sz="3145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Анализ требований</a:t>
            </a:r>
            <a:endParaRPr lang="en-US" altLang="en-US" sz="314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Проектирование структуры базы данных</a:t>
            </a:r>
            <a:endParaRPr lang="en-US" altLang="en-US" sz="314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Разработка веб-приложения</a:t>
            </a:r>
            <a:endParaRPr lang="en-US" altLang="en-US" sz="314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Реализация функций системы</a:t>
            </a:r>
            <a:endParaRPr lang="en-US" altLang="en-US" sz="314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Тестирование</a:t>
            </a:r>
            <a:endParaRPr lang="en-US" altLang="en-US" sz="314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14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Внедрение и проверка системы</a:t>
            </a:r>
            <a:endParaRPr lang="en-US" altLang="en-US" sz="314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7365" y="1387475"/>
            <a:ext cx="4992370" cy="4090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к системе:</a:t>
            </a:r>
            <a:endParaRPr lang="en-US" altLang="ru-RU" sz="2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Регистрация и хранение данных клиентов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Просмотр доступных абонементов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Добавление абонементов в корзину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Оформление заказа через веб-сайт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Обработка и подтверждение оплаты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Генерация </a:t>
            </a:r>
            <a:r>
              <a:rPr lang="en-US" altLang="ru-RU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кода абонемента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Активация абонемента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Хранение информации о заказах и оплате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Отправка чека и </a:t>
            </a:r>
            <a:r>
              <a:rPr lang="en-US" altLang="ru-RU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en-US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кода клиенту</a:t>
            </a:r>
            <a:r>
              <a:rPr lang="ru-RU" alt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почту</a:t>
            </a:r>
            <a:endParaRPr lang="ru-RU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8445"/>
            <a:ext cx="10515600" cy="1077595"/>
          </a:xfrm>
        </p:spPr>
        <p:txBody>
          <a:bodyPr>
            <a:normAutofit fontScale="90000"/>
          </a:bodyPr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UML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диаграмма вариантов использования 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UseCase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ru-RU" altLang="en-US" sz="4000"/>
          </a:p>
        </p:txBody>
      </p:sp>
      <p:pic>
        <p:nvPicPr>
          <p:cNvPr id="4" name="Замещающее содержимое 3" descr="ВСЕ ДИАГРАММЫ-Вариантов 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91945" y="1670685"/>
            <a:ext cx="9007475" cy="4599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" y="2724785"/>
            <a:ext cx="5978525" cy="704215"/>
          </a:xfrm>
        </p:spPr>
        <p:txBody>
          <a:bodyPr>
            <a:normAutofit fontScale="90000"/>
          </a:bodyPr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UML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диаграмма деятельности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Activity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ru-RU" altLang="en-US" sz="3600"/>
          </a:p>
        </p:txBody>
      </p:sp>
      <p:pic>
        <p:nvPicPr>
          <p:cNvPr id="4" name="Замещающее содержимое 3" descr="ВСЕ ДИАГРАММЫ-Деятельность 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69355" y="71120"/>
            <a:ext cx="582422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22935"/>
          </a:xfrm>
        </p:spPr>
        <p:txBody>
          <a:bodyPr>
            <a:normAutofit fontScale="90000"/>
          </a:bodyPr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UML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диаграмма последовательности 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Sequence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ru-RU" altLang="en-US" sz="4000"/>
          </a:p>
        </p:txBody>
      </p:sp>
      <p:pic>
        <p:nvPicPr>
          <p:cNvPr id="4" name="Замещающее содержимое 3" descr="ВСЕ ДИАГРАММЫ-Последовательность 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67355" y="622300"/>
            <a:ext cx="6257925" cy="60521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8035"/>
          </a:xfrm>
        </p:spPr>
        <p:txBody>
          <a:bodyPr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UML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диаграмма классов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ru-RU" altLang="en-US" sz="3600"/>
          </a:p>
        </p:txBody>
      </p:sp>
      <p:pic>
        <p:nvPicPr>
          <p:cNvPr id="4" name="Замещающее содержимое 3" descr="ВСЕ ДИАГРАММЫ-Классов 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14040" y="788670"/>
            <a:ext cx="5963920" cy="59601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715645"/>
          </a:xfrm>
        </p:spPr>
        <p:txBody>
          <a:bodyPr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Концептуальная модель данных</a:t>
            </a:r>
            <a:endParaRPr lang="ru-RU" altLang="en-US" sz="3600"/>
          </a:p>
        </p:txBody>
      </p:sp>
      <p:pic>
        <p:nvPicPr>
          <p:cNvPr id="4" name="Замещающее содержимое 3" descr="ВСЕ ДИАГРАММЫ-Концептуальная 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22600" y="715645"/>
            <a:ext cx="5765800" cy="59162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538480"/>
          </a:xfrm>
        </p:spPr>
        <p:txBody>
          <a:bodyPr>
            <a:normAutofit fontScale="90000"/>
          </a:bodyPr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Логическая модель данных</a:t>
            </a:r>
            <a:endParaRPr lang="ru-RU" altLang="en-US" sz="4000"/>
          </a:p>
        </p:txBody>
      </p:sp>
      <p:pic>
        <p:nvPicPr>
          <p:cNvPr id="4" name="Замещающее содержимое 3" descr="ВСЕ ДИАГРАММЫ-Логическая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6240" y="803910"/>
            <a:ext cx="885952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70230"/>
          </a:xfrm>
        </p:spPr>
        <p:txBody>
          <a:bodyPr>
            <a:normAutofit fontScale="90000"/>
          </a:bodyPr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Физическая модель данных</a:t>
            </a:r>
            <a:endParaRPr lang="ru-RU" altLang="en-US" sz="4000"/>
          </a:p>
        </p:txBody>
      </p:sp>
      <p:pic>
        <p:nvPicPr>
          <p:cNvPr id="17" name="Рисунок 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4175" y="697230"/>
            <a:ext cx="8883650" cy="5718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63930"/>
          </a:xfrm>
        </p:spPr>
        <p:txBody>
          <a:bodyPr>
            <a:normAutofit fontScale="90000"/>
          </a:bodyPr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АНАЛИТИЧЕСКИЕ ЗАПРОСЫ К БАЗЕ ДАННЫХ</a:t>
            </a:r>
            <a:endParaRPr lang="ru-RU" altLang="en-US" sz="40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данные зарегистрированного пользователя </a:t>
            </a:r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full_name, email, phone</a:t>
            </a:r>
            <a:endParaRPr lang="en-US" altLang="ru-R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Client</a:t>
            </a:r>
            <a:endParaRPr lang="en-US" altLang="ru-R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email = 'eva@mail.com';</a:t>
            </a:r>
            <a:endParaRPr lang="en-US" altLang="ru-R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5485" y="3757613"/>
            <a:ext cx="5320030" cy="24999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131570"/>
            <a:ext cx="10515600" cy="4594225"/>
          </a:xfrm>
        </p:spPr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абонемента и его цена, если он дороже 3500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price FROM Subscription WHERE price &gt; 3500;</a:t>
            </a:r>
            <a:endParaRPr lang="en-US" alt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Рисунок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5230" y="2727960"/>
            <a:ext cx="6860540" cy="26295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253490"/>
            <a:ext cx="10515600" cy="4351338"/>
          </a:xfrm>
        </p:spPr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Самый дорогой заказ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order_number, total_amount FROM `Order` ORDER BY total_amount DESC LIMIT 1;</a:t>
            </a:r>
            <a:endParaRPr lang="en-US" alt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Рисунок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770" y="2955290"/>
            <a:ext cx="7489825" cy="22244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325120"/>
            <a:ext cx="10515600" cy="5739765"/>
          </a:xfrm>
        </p:spPr>
        <p:txBody>
          <a:bodyPr/>
          <a:p>
            <a:r>
              <a:rPr lang="ru-RU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 данных из нескольких таблиц (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+ абонемент + способ оплаты</a:t>
            </a:r>
            <a:r>
              <a:rPr lang="ru-RU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Client.full_name, Subscription.name, Receipt.payment_method FROM `Order` JOIN Client ON `Order`.id_client = Client.id_client JOIN Subscription ON `Order`.id_subscription = Subscription.id_subscription JOIN Payment ON `Order`.order_number = Payment.order_number JOIN Receipt ON Payment.id_payment = Receipt.id_payment;</a:t>
            </a:r>
            <a:endParaRPr lang="en-US" altLang="ru-R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Рисунок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070" y="2914015"/>
            <a:ext cx="6627495" cy="36899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16915" y="678180"/>
            <a:ext cx="10515600" cy="4351338"/>
          </a:xfrm>
        </p:spPr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Заказы у которых статус «Оплачен»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order_number, status FROM `Order` WHERE status = '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Оплачен';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Рисунок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955" y="2538095"/>
            <a:ext cx="6827520" cy="31457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480695"/>
          </a:xfrm>
        </p:spPr>
        <p:txBody>
          <a:bodyPr>
            <a:normAutofit fontScale="90000"/>
          </a:bodyPr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ПОЛЬЗОВАТЕЛЬСКИЙ ИНТЕРФЕЙС</a:t>
            </a:r>
            <a:endParaRPr lang="ru-RU" altLang="en-US" sz="4000"/>
          </a:p>
        </p:txBody>
      </p:sp>
      <p:pic>
        <p:nvPicPr>
          <p:cNvPr id="32" name="Изображение 12" descr="Снимок экрана 2026-05-05 01141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8955" y="1009650"/>
            <a:ext cx="8213090" cy="4943475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798955" y="5953125"/>
            <a:ext cx="3571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лавн</a:t>
            </a:r>
            <a:r>
              <a:rPr lang="ru-RU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ый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экран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веб-сайта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" name="Изображение 14" descr="анкгпакугнаулыури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9095" y="687705"/>
            <a:ext cx="8894445" cy="533400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649095" y="60217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Экран «Спортивные услуги»</a:t>
            </a:r>
            <a:endParaRPr lang="ru-RU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Изображение 15" descr="явдмтрщфГОВФЖВМТСЬЧжЛЫБ,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7965" y="497205"/>
            <a:ext cx="9195435" cy="5516245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497965" y="60134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Экран «Корзина»</a:t>
            </a:r>
            <a:endParaRPr lang="ru-RU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31520"/>
          </a:xfrm>
        </p:spPr>
        <p:txBody>
          <a:bodyPr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ЗАКЛЮЧЕНИЕ</a:t>
            </a:r>
            <a:endParaRPr lang="ru-RU" altLang="en-US" sz="36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06220"/>
            <a:ext cx="10515600" cy="4351338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курсового проекта по теме «Проектирование ИС «Спорткомплекс»» была разработана информационная система спортивного комплекса для автоматизации процесса покупки абонементов, обработки заказов и хранения данных о клиентах.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позволяет выбирать абонементы, оформлять заказ, выполнять оплату и получать электронный чек и 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код, что упрощает работу спортивного комплекса и повышает удобство для клиентов.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63600" y="2708910"/>
            <a:ext cx="10515600" cy="2238375"/>
          </a:xfrm>
        </p:spPr>
        <p:txBody>
          <a:bodyPr>
            <a:normAutofit/>
          </a:bodyPr>
          <a:p>
            <a:pPr algn="ctr"/>
            <a:r>
              <a:rPr lang="ru-RU" altLang="en-US" sz="5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altLang="en-US" sz="5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4194</Words>
  <Application>WPS Presentation</Application>
  <PresentationFormat>宽屏</PresentationFormat>
  <Paragraphs>127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SimSun</vt:lpstr>
      <vt:lpstr>Wingdings</vt:lpstr>
      <vt:lpstr>Calibri Light</vt:lpstr>
      <vt:lpstr>Times New Roman</vt:lpstr>
      <vt:lpstr>Calibri</vt:lpstr>
      <vt:lpstr>Microsoft YaHei</vt:lpstr>
      <vt:lpstr>Arial Unicode MS</vt:lpstr>
      <vt:lpstr>Office Theme</vt:lpstr>
      <vt:lpstr>Курсовой проект на тему «Проектирование ИС “Спорткомплекс”»</vt:lpstr>
      <vt:lpstr>ОПИСАНИЕ ПРЕДМЕТНОЙ ОБЛАСТИ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Кристина Морозо�</cp:lastModifiedBy>
  <cp:revision>5</cp:revision>
  <dcterms:created xsi:type="dcterms:W3CDTF">2025-07-23T00:59:00Z</dcterms:created>
  <dcterms:modified xsi:type="dcterms:W3CDTF">2026-05-11T21:18:43Z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E9570D2E314C4FE9B5D2497FAA2293AB_13</vt:lpwstr>
  </property>
</Properties>
</file>